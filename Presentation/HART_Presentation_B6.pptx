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64002" y="1438813"/>
            <a:ext cx="10027213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864002" y="3176700"/>
            <a:ext cx="10027213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1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19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07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64000" y="2020711"/>
            <a:ext cx="5130400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020711"/>
            <a:ext cx="4900309" cy="410545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517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9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626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699910"/>
            <a:ext cx="4011084" cy="73518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4" y="699911"/>
            <a:ext cx="6499578" cy="54262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580444"/>
            <a:ext cx="4011084" cy="4545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70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0" y="648000"/>
            <a:ext cx="11376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64000" y="745650"/>
            <a:ext cx="102339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64000" y="2021181"/>
            <a:ext cx="10233909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64000" y="6492816"/>
            <a:ext cx="28448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b="0" i="0" smtClean="0">
                <a:latin typeface="Source Sans Pro"/>
                <a:cs typeface="Source Sans Pro"/>
              </a:defRPr>
            </a:lvl1pPr>
          </a:lstStyle>
          <a:p>
            <a:fld id="{65671D92-7CEF-47A0-BCBA-17945E08BD7F}" type="datetimeFigureOut">
              <a:rPr lang="de-DE" smtClean="0"/>
              <a:t>16.06.2026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31200" y="6493481"/>
            <a:ext cx="284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427882D2-76ED-40F5-9AA8-D6B4E564DC5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493481"/>
            <a:ext cx="41148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lang="de-DE" sz="700" b="0" i="0">
                <a:latin typeface="Source Sans Pro"/>
                <a:cs typeface="Source Sans Pro"/>
              </a:defRPr>
            </a:lvl1pPr>
          </a:lstStyle>
          <a:p>
            <a:endParaRPr lang="de-DE"/>
          </a:p>
        </p:txBody>
      </p:sp>
      <p:pic>
        <p:nvPicPr>
          <p:cNvPr id="9" name="Bild 6" descr="HSHL_Logo_horizontal_RGB_Sequenz_Animation.gi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2000" y="247172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77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3232" y="178308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 dirty="0">
                <a:solidFill>
                  <a:srgbClr val="E2061A"/>
                </a:solidFill>
                <a:latin typeface="Cambria"/>
              </a:rPr>
              <a:t>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718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D1D1B"/>
                </a:solidFill>
                <a:latin typeface="Cambria"/>
              </a:rPr>
              <a:t>Highway Addressable Remote Transducer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D1D1B"/>
                </a:solidFill>
                <a:latin typeface="Calibri"/>
              </a:rPr>
              <a:t>Soaib Ferdous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251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D1D1B"/>
                </a:solidFill>
                <a:latin typeface="Calibri"/>
              </a:rPr>
              <a:t>Md Arman Zaid Efty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251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D1D1B"/>
                </a:solidFill>
                <a:latin typeface="Calibri"/>
              </a:rPr>
              <a:t>Md Zulkar Nain Sayeed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5196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D1D1B"/>
                </a:solidFill>
                <a:latin typeface="Calibri"/>
              </a:rPr>
              <a:t>Jamsadul Bari Fahad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8A8A87"/>
                </a:solidFill>
                <a:latin typeface="Calibri"/>
              </a:rPr>
              <a:t>B.Eng. Electronic Engineering  ·  Hochschule Hamm-Lippstadt  ·  Lippstadt, Germany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C98A00"/>
                </a:solidFill>
                <a:latin typeface="Calibri"/>
              </a:rPr>
              <a:t> Industrial Communication Systems  ·   Summer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61320" y="5989320"/>
            <a:ext cx="292608" cy="292608"/>
          </a:xfrm>
          <a:prstGeom prst="rect">
            <a:avLst/>
          </a:prstGeom>
          <a:solidFill>
            <a:srgbClr val="E20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771632" y="6199632"/>
            <a:ext cx="292608" cy="292608"/>
          </a:xfrm>
          <a:prstGeom prst="rect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9801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68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D1D1B"/>
                </a:solidFill>
                <a:latin typeface="Cambria"/>
              </a:rPr>
              <a:t>What is HART?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1">
                <a:solidFill>
                  <a:srgbClr val="3F3F3D"/>
                </a:solidFill>
                <a:latin typeface="Calibri"/>
              </a:rPr>
              <a:t>A digital communication protocol for industrial field devices — built on top of the wiring that plants already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253288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icro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88336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247802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A smart-device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9008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Lets field instruments and the control system talk digitally.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24028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35424" y="253288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ir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688336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0952" y="247802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Runs on existing 4–20 mA wires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99008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No new cabling — it rides on the standard current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224028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29015" y="253288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men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3" y="2688336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24544" y="247802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Two signals at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299008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The analog reading and a digital conversation share one wire.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23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41832" y="431596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earch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471416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37360" y="426110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Carries diagnostics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77316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Devices report not just a value, but their own health.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4023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35424" y="431596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e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872" y="4471416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0952" y="426110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Question-and-answer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77316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The control system asks; each device answers in turn.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72983" y="4023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29015" y="4315968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ndustry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3" y="4471416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24544" y="426110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D1D1B"/>
                </a:solidFill>
                <a:latin typeface="Cambria"/>
              </a:rPr>
              <a:t>An industry standard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477316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3F3F3D"/>
                </a:solidFill>
                <a:latin typeface="Calibri"/>
              </a:rPr>
              <a:t>One of the most widely used protocols in process plants.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The main idea, in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6035040" cy="3977639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mbria"/>
              </a:rPr>
              <a:t>How HART fits in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ir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58775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5920" y="246888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3F3F3D"/>
                </a:solidFill>
                <a:latin typeface="Calibri"/>
              </a:rPr>
              <a:t>HART works on existing 4–20 mA wiring.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xch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456432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333756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3F3F3D"/>
                </a:solidFill>
                <a:latin typeface="Calibri"/>
              </a:rPr>
              <a:t>The analog signal carries the process value.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fing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325112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45920" y="420624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3F3F3D"/>
                </a:solidFill>
                <a:latin typeface="Calibri"/>
              </a:rPr>
              <a:t>The digital signal carries diagnostics and device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691640"/>
            <a:ext cx="4434840" cy="3977639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196596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ECC00"/>
                </a:solidFill>
                <a:latin typeface="Calibri"/>
              </a:rPr>
              <a:t>MAIN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834640"/>
            <a:ext cx="3886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HART helps check if the value is reliable.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868680"/>
            <a:ext cx="3246120" cy="512064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" y="1143000"/>
            <a:ext cx="292608" cy="292608"/>
          </a:xfrm>
          <a:prstGeom prst="rect">
            <a:avLst/>
          </a:prstGeom>
          <a:solidFill>
            <a:srgbClr val="E20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353312"/>
            <a:ext cx="292608" cy="292608"/>
          </a:xfrm>
          <a:prstGeom prst="rect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</a:rPr>
              <a:t>Value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ECC00"/>
                </a:solidFill>
                <a:latin typeface="Cambria"/>
              </a:rPr>
              <a:t>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CFCFCC"/>
                </a:solidFill>
                <a:latin typeface="Calibri"/>
              </a:rPr>
              <a:t>Why this protocol still matters on the plant floor</a:t>
            </a:r>
          </a:p>
        </p:txBody>
      </p:sp>
      <p:sp>
        <p:nvSpPr>
          <p:cNvPr id="9" name="Oval 8"/>
          <p:cNvSpPr/>
          <p:nvPr/>
        </p:nvSpPr>
        <p:spPr>
          <a:xfrm>
            <a:off x="4251960" y="1024128"/>
            <a:ext cx="566928" cy="566928"/>
          </a:xfrm>
          <a:prstGeom prst="ellipse">
            <a:avLst/>
          </a:prstGeom>
          <a:solidFill>
            <a:srgbClr val="FBFBFA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ire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15214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9601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1D1D1B"/>
                </a:solidFill>
                <a:latin typeface="Cambria"/>
              </a:rPr>
              <a:t>Uses existing 4–20 mA wiring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335024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3F3F3D"/>
                </a:solidFill>
                <a:latin typeface="Calibri"/>
              </a:rPr>
              <a:t>No new cabling required for retrofits.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1975103"/>
            <a:ext cx="566928" cy="566928"/>
          </a:xfrm>
          <a:prstGeom prst="ellipse">
            <a:avLst/>
          </a:prstGeom>
          <a:solidFill>
            <a:srgbClr val="FBFBFA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earch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10312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1911095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1D1D1B"/>
                </a:solidFill>
                <a:latin typeface="Cambria"/>
              </a:rPr>
              <a:t>Enables remote diagnostics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3F3F3D"/>
                </a:solidFill>
                <a:latin typeface="Calibri"/>
              </a:rPr>
              <a:t>Device health is visible without a site visit.</a:t>
            </a:r>
          </a:p>
        </p:txBody>
      </p:sp>
      <p:sp>
        <p:nvSpPr>
          <p:cNvPr id="17" name="Oval 16"/>
          <p:cNvSpPr/>
          <p:nvPr/>
        </p:nvSpPr>
        <p:spPr>
          <a:xfrm>
            <a:off x="4251960" y="2926079"/>
            <a:ext cx="566928" cy="566928"/>
          </a:xfrm>
          <a:prstGeom prst="ellipse">
            <a:avLst/>
          </a:prstGeom>
          <a:solidFill>
            <a:srgbClr val="FBFBFA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war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3054096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0" y="286207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1D1D1B"/>
                </a:solidFill>
                <a:latin typeface="Cambria"/>
              </a:rPr>
              <a:t>Detects device faults early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369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3F3F3D"/>
                </a:solidFill>
                <a:latin typeface="Calibri"/>
              </a:rPr>
              <a:t>Problems are flagged before they affect the process.</a:t>
            </a:r>
          </a:p>
        </p:txBody>
      </p:sp>
      <p:sp>
        <p:nvSpPr>
          <p:cNvPr id="21" name="Oval 20"/>
          <p:cNvSpPr/>
          <p:nvPr/>
        </p:nvSpPr>
        <p:spPr>
          <a:xfrm>
            <a:off x="4251960" y="3877056"/>
            <a:ext cx="566928" cy="566928"/>
          </a:xfrm>
          <a:prstGeom prst="ellipse">
            <a:avLst/>
          </a:prstGeom>
          <a:solidFill>
            <a:srgbClr val="FBFBFA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tools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4005072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0" y="38130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1D1D1B"/>
                </a:solidFill>
                <a:latin typeface="Cambria"/>
              </a:rPr>
              <a:t>Supports maintenance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8795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3F3F3D"/>
                </a:solidFill>
                <a:latin typeface="Calibri"/>
              </a:rPr>
              <a:t>Feeds data into condition-based maintenance.</a:t>
            </a:r>
          </a:p>
        </p:txBody>
      </p:sp>
      <p:sp>
        <p:nvSpPr>
          <p:cNvPr id="25" name="Oval 24"/>
          <p:cNvSpPr/>
          <p:nvPr/>
        </p:nvSpPr>
        <p:spPr>
          <a:xfrm>
            <a:off x="4251960" y="4828032"/>
            <a:ext cx="566928" cy="566928"/>
          </a:xfrm>
          <a:prstGeom prst="ellipse">
            <a:avLst/>
          </a:prstGeom>
          <a:solidFill>
            <a:srgbClr val="FBFBFA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shield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4956048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0" y="476402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1D1D1B"/>
                </a:solidFill>
                <a:latin typeface="Cambria"/>
              </a:rPr>
              <a:t>Improves process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1389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3F3F3D"/>
                </a:solidFill>
                <a:latin typeface="Calibri"/>
              </a:rPr>
              <a:t>Faults are caught sooner, reducing risk.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How HART communicates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2061A"/>
                </a:solidFill>
                <a:latin typeface="Cambria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271016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end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1" y="259689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Control system sends a command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7732" y="3337560"/>
            <a:ext cx="109728" cy="274320"/>
          </a:xfrm>
          <a:prstGeom prst="rightArrow">
            <a:avLst/>
          </a:prstGeom>
          <a:solidFill>
            <a:srgbClr val="D3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42032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79191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98A00"/>
                </a:solidFill>
                <a:latin typeface="Cambria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127248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repl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3" y="2596896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79191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Field device sends a response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283964" y="3337560"/>
            <a:ext cx="109728" cy="274320"/>
          </a:xfrm>
          <a:prstGeom prst="rightArrow">
            <a:avLst/>
          </a:prstGeom>
          <a:solidFill>
            <a:srgbClr val="D3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398264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1D1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D1D1B"/>
                </a:solidFill>
                <a:latin typeface="Cambria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4983479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D1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bol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2596896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35424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4–20 mA carries the process value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40195" y="3337560"/>
            <a:ext cx="109728" cy="274320"/>
          </a:xfrm>
          <a:prstGeom prst="rightArrow">
            <a:avLst/>
          </a:prstGeom>
          <a:solidFill>
            <a:srgbClr val="D3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54496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C98A00"/>
                </a:solidFill>
                <a:latin typeface="Cambria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6839712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wave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596896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91656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FSK digital signal carries device data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96428" y="3337560"/>
            <a:ext cx="109728" cy="274320"/>
          </a:xfrm>
          <a:prstGeom prst="rightArrow">
            <a:avLst/>
          </a:prstGeom>
          <a:solidFill>
            <a:srgbClr val="D3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10727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47888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2061A"/>
                </a:solidFill>
                <a:latin typeface="Cambria"/>
              </a:rPr>
              <a:t>5</a:t>
            </a:r>
          </a:p>
        </p:txBody>
      </p:sp>
      <p:sp>
        <p:nvSpPr>
          <p:cNvPr id="30" name="Oval 29"/>
          <p:cNvSpPr/>
          <p:nvPr/>
        </p:nvSpPr>
        <p:spPr>
          <a:xfrm>
            <a:off x="8695944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heartbeat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59" y="2596896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247888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Status bytes report device health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852660" y="3337560"/>
            <a:ext cx="109728" cy="274320"/>
          </a:xfrm>
          <a:prstGeom prst="rightArrow">
            <a:avLst/>
          </a:prstGeom>
          <a:solidFill>
            <a:srgbClr val="D3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66959" y="1874519"/>
            <a:ext cx="1737360" cy="3246120"/>
          </a:xfrm>
          <a:prstGeom prst="roundRect">
            <a:avLst>
              <a:gd name="adj" fmla="val 10000"/>
            </a:avLst>
          </a:prstGeom>
          <a:solidFill>
            <a:srgbClr val="FBFBFA"/>
          </a:solidFill>
          <a:ln w="1778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04119" y="201167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9E6A"/>
                </a:solidFill>
                <a:latin typeface="Cambria"/>
              </a:rPr>
              <a:t>6</a:t>
            </a:r>
          </a:p>
        </p:txBody>
      </p:sp>
      <p:sp>
        <p:nvSpPr>
          <p:cNvPr id="36" name="Oval 35"/>
          <p:cNvSpPr/>
          <p:nvPr/>
        </p:nvSpPr>
        <p:spPr>
          <a:xfrm>
            <a:off x="10552176" y="2468879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shield_gre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191" y="2596896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104119" y="3246120"/>
            <a:ext cx="146303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 i="0">
                <a:solidFill>
                  <a:srgbClr val="1D1D1B"/>
                </a:solidFill>
                <a:latin typeface="Calibri"/>
              </a:rPr>
              <a:t>Checksum verifies the frame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What's inside a HART frame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8A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Preamble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48256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1D1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48256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Start 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1D1D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Address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73168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8A8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35624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Byte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Status bytes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0536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22992" y="1627632"/>
            <a:ext cx="1307592" cy="566928"/>
          </a:xfrm>
          <a:prstGeom prst="roundRect">
            <a:avLst>
              <a:gd name="adj" fmla="val 12000"/>
            </a:avLst>
          </a:prstGeom>
          <a:solidFill>
            <a:srgbClr val="FBFBFA"/>
          </a:solidFill>
          <a:ln w="16510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22992" y="1627632"/>
            <a:ext cx="130759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80" b="1" i="0">
                <a:solidFill>
                  <a:srgbClr val="1D1D1B"/>
                </a:solidFill>
                <a:latin typeface="Calibri"/>
              </a:rPr>
              <a:t>Checksum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463040" y="2423160"/>
          <a:ext cx="603504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109728" marT="18288" marB="18288" anchor="ctr"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T="18288" marB="18288" anchor="ctr">
                    <a:solidFill>
                      <a:srgbClr val="1D1D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Preamble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Synchronization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Start byte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Request or response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Address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Selects device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Tells action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Byte count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Data length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Status bytes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Device health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Value or diagnostics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1D1B"/>
                          </a:solidFill>
                          <a:latin typeface="Calibri"/>
                        </a:rPr>
                        <a:t>Checksum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F3F3D"/>
                          </a:solidFill>
                          <a:latin typeface="Calibri"/>
                        </a:rPr>
                        <a:t>Error check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818120" y="242316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shield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69748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92440" y="3337560"/>
            <a:ext cx="301752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Every HART response carries both data and fault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How HART detects faults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3F3F3D"/>
                </a:solidFill>
                <a:latin typeface="Calibri"/>
              </a:rPr>
              <a:t>HART detects errors using: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eartbea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53288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40" y="20116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Status bytes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011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07992" y="23774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imescircl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532888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85231" y="20116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Checksum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983" y="201168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01583" y="237744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ire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1" y="2532888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78824" y="201168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No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39319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loc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087368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1640" y="356616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Timeout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5661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507992" y="39319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earch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087368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56616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Diagnostic commands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72983" y="3566160"/>
            <a:ext cx="3429000" cy="13716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01583" y="3931920"/>
            <a:ext cx="640080" cy="6400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3D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exch_go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1" y="4087368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78824" y="3566160"/>
            <a:ext cx="224028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1D1B"/>
                </a:solidFill>
                <a:latin typeface="Calibri"/>
              </a:rPr>
              <a:t>Analog / digital mismatch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86400"/>
            <a:ext cx="10698480" cy="71323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486400"/>
            <a:ext cx="101498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mbria"/>
              </a:rPr>
              <a:t>This helps separate process problems from device problems.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Practical applications of 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96596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2139696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28346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mbria"/>
              </a:rPr>
              <a:t>Smart Transmitters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C98A00"/>
                </a:solidFill>
                <a:latin typeface="Calibri"/>
              </a:rPr>
              <a:t>Temperature, pressure,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39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Reports PV and device health</a:t>
            </a:r>
          </a:p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Detects drift and calibration 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69164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53712" y="196596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liders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139696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3712" y="28346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mbria"/>
              </a:rPr>
              <a:t>Smart Valve Positioners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2461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E9E6A"/>
                </a:solidFill>
                <a:latin typeface="Calibri"/>
              </a:rPr>
              <a:t>Actuator feedback and travel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749039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Reports actual valve position</a:t>
            </a:r>
          </a:p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Finds valve sticking or stiction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2983" y="1691640"/>
            <a:ext cx="3429000" cy="3977639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47304" y="1965960"/>
            <a:ext cx="713232" cy="7132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n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139696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47304" y="2834640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mbria"/>
              </a:rPr>
              <a:t>DCS / PLC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324612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2E6DB4"/>
                </a:solidFill>
                <a:latin typeface="Calibri"/>
              </a:rPr>
              <a:t>Plant-wide data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3749039"/>
            <a:ext cx="2880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Polls field devices and collects diagnostics</a:t>
            </a:r>
          </a:p>
          <a:p>
            <a:pPr marL="228600" indent="-228600" algn="l">
              <a:lnSpc>
                <a:spcPct val="108000"/>
              </a:lnSpc>
              <a:spcAft>
                <a:spcPts val="1000"/>
              </a:spcAft>
              <a:buChar char="•"/>
            </a:pPr>
            <a:r>
              <a:rPr sz="1280" b="0" i="0">
                <a:solidFill>
                  <a:srgbClr val="3F3F3D"/>
                </a:solidFill>
                <a:latin typeface="Calibri"/>
              </a:rPr>
              <a:t>Supports remote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We put these ideas into a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1">
                <a:solidFill>
                  <a:srgbClr val="3F3F3D"/>
                </a:solidFill>
                <a:latin typeface="Calibri"/>
              </a:rPr>
              <a:t>To see HART fault detection in action, we built a simple simulated control loop — a chemical reactor held at a target temperature by three HART devices.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10698480" cy="338328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D1D1B"/>
                </a:solidFill>
                <a:latin typeface="Calibri"/>
              </a:rPr>
              <a:t>Reactor  ·  held at a steady temperature</a:t>
            </a:r>
          </a:p>
        </p:txBody>
      </p:sp>
      <p:sp>
        <p:nvSpPr>
          <p:cNvPr id="7" name="Oval 6"/>
          <p:cNvSpPr/>
          <p:nvPr/>
        </p:nvSpPr>
        <p:spPr>
          <a:xfrm>
            <a:off x="1280160" y="315468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401568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39" y="4251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C98A00"/>
                </a:solidFill>
                <a:latin typeface="Cambria"/>
              </a:rPr>
              <a:t>TT-201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4663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3F3F3D"/>
                </a:solidFill>
                <a:latin typeface="Calibri"/>
              </a:rPr>
              <a:t>Measures the temperature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315468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401568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4251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2E6DB4"/>
                </a:solidFill>
                <a:latin typeface="Cambria"/>
              </a:rPr>
              <a:t>FT-202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663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3F3F3D"/>
                </a:solidFill>
                <a:latin typeface="Calibri"/>
              </a:rPr>
              <a:t>Measures the inflow</a:t>
            </a:r>
          </a:p>
        </p:txBody>
      </p:sp>
      <p:sp>
        <p:nvSpPr>
          <p:cNvPr id="15" name="Oval 14"/>
          <p:cNvSpPr/>
          <p:nvPr/>
        </p:nvSpPr>
        <p:spPr>
          <a:xfrm>
            <a:off x="8321040" y="315468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liders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401568"/>
            <a:ext cx="4572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19" y="4251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E9E6A"/>
                </a:solidFill>
                <a:latin typeface="Cambria"/>
              </a:rPr>
              <a:t>FCV-203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4663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3F3F3D"/>
                </a:solidFill>
                <a:latin typeface="Calibri"/>
              </a:rPr>
              <a:t>Opens and closes the valve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2061A"/>
                </a:solidFill>
                <a:latin typeface="Calibri"/>
              </a:rPr>
              <a:t>OUR PRACTICAL IMPLEMENTATION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Three simple problems, 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1">
                <a:solidFill>
                  <a:srgbClr val="3F3F3D"/>
                </a:solidFill>
                <a:latin typeface="Calibri"/>
              </a:rPr>
              <a:t>We deliberately broke one thing at a time, to see whether HART would notice.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7780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" y="249631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rn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697480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65960" y="2404872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C98A00"/>
                </a:solidFill>
                <a:latin typeface="Cambria"/>
              </a:rPr>
              <a:t>TT-201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0487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D1D1B"/>
                </a:solidFill>
                <a:latin typeface="Calibri"/>
              </a:rPr>
              <a:t>The temperature sensor quietly gave a wrong reading.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5760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7780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391363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ir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114800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5960" y="3822191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E2061A"/>
                </a:solidFill>
                <a:latin typeface="Cambria"/>
              </a:rPr>
              <a:t>FT-202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22191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D1D1B"/>
                </a:solidFill>
                <a:latin typeface="Calibri"/>
              </a:rPr>
              <a:t>The flow sensor stopped responding entirely.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7492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7780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0120" y="533095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lo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5532120"/>
            <a:ext cx="329184" cy="329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65960" y="5239512"/>
            <a:ext cx="15544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E9E6A"/>
                </a:solidFill>
                <a:latin typeface="Cambria"/>
              </a:rPr>
              <a:t>FCV-203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39512"/>
            <a:ext cx="74066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D1D1B"/>
                </a:solidFill>
                <a:latin typeface="Calibri"/>
              </a:rPr>
              <a:t>The valve did not move to where it was told.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1">
                <a:solidFill>
                  <a:srgbClr val="3F3F3D"/>
                </a:solidFill>
                <a:latin typeface="Calibri"/>
              </a:rPr>
              <a:t>HART caught all three problems. Here's how long each one took to notice.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98A0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TT-201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03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A8A87"/>
                </a:solidFill>
                <a:latin typeface="Calibri"/>
              </a:rPr>
              <a:t>Wrong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C98A00"/>
                </a:solidFill>
                <a:latin typeface="Cambria"/>
              </a:rPr>
              <a:t>5.5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34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>
                <a:solidFill>
                  <a:srgbClr val="3F3F3D"/>
                </a:solidFill>
                <a:latin typeface="Calibri"/>
              </a:rPr>
              <a:t>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228600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2061A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25146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FT-202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8803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A8A87"/>
                </a:solidFill>
                <a:latin typeface="Calibri"/>
              </a:rPr>
              <a:t>No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333756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E2061A"/>
                </a:solidFill>
                <a:latin typeface="Cambria"/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4434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>
                <a:solidFill>
                  <a:srgbClr val="3F3F3D"/>
                </a:solidFill>
                <a:latin typeface="Calibri"/>
              </a:rPr>
              <a:t>second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72983" y="2286000"/>
            <a:ext cx="342900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E9E6A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72983" y="25146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FCV-203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3" y="288036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8A8A87"/>
                </a:solidFill>
                <a:latin typeface="Calibri"/>
              </a:rPr>
              <a:t>Valve stuck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3" y="3337560"/>
            <a:ext cx="3429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1E9E6A"/>
                </a:solidFill>
                <a:latin typeface="Cambria"/>
              </a:rPr>
              <a:t>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3" y="4434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>
                <a:solidFill>
                  <a:srgbClr val="3F3F3D"/>
                </a:solidFill>
                <a:latin typeface="Calibri"/>
              </a:rPr>
              <a:t>seconds — instant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D1D1B"/>
                </a:solidFill>
                <a:latin typeface="Cambria"/>
              </a:rPr>
              <a:t>Why it worked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698480" cy="38862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eartbeat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4884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214884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HART's status bytes flagged every problem automatically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9052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ECC00"/>
                </a:solidFill>
                <a:latin typeface="Cambria"/>
              </a:rPr>
              <a:t>before it could affect the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375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FCFCC"/>
                </a:solidFill>
                <a:latin typeface="Calibri"/>
              </a:rPr>
              <a:t>No one had to watch the reactor and notice a problem by eye. The same digital channel that carries the reading also carries the warning.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1480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CFCFCC"/>
                </a:solidFill>
                <a:latin typeface="Calibri"/>
              </a:rPr>
              <a:t>This is the same mechanism described earlier — just shown working on a real loop, end to 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868680"/>
            <a:ext cx="3246120" cy="512064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86968" y="1143000"/>
            <a:ext cx="292608" cy="292608"/>
          </a:xfrm>
          <a:prstGeom prst="rect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1353312"/>
            <a:ext cx="292608" cy="292608"/>
          </a:xfrm>
          <a:prstGeom prst="rect">
            <a:avLst/>
          </a:prstGeom>
          <a:solidFill>
            <a:srgbClr val="E20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ECC00"/>
                </a:solidFill>
                <a:latin typeface="Cambria"/>
              </a:rPr>
              <a:t>Takeaways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1207008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2070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1188720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HART keeps 4–20 mA compatibility</a:t>
            </a:r>
          </a:p>
        </p:txBody>
      </p:sp>
      <p:sp>
        <p:nvSpPr>
          <p:cNvPr id="10" name="Oval 9"/>
          <p:cNvSpPr/>
          <p:nvPr/>
        </p:nvSpPr>
        <p:spPr>
          <a:xfrm>
            <a:off x="4251960" y="1920240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901952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Digital data adds device diagnostics</a:t>
            </a:r>
          </a:p>
        </p:txBody>
      </p:sp>
      <p:sp>
        <p:nvSpPr>
          <p:cNvPr id="13" name="Oval 12"/>
          <p:cNvSpPr/>
          <p:nvPr/>
        </p:nvSpPr>
        <p:spPr>
          <a:xfrm>
            <a:off x="4251960" y="2633472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26334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615184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Status bytes help detect faults</a:t>
            </a:r>
          </a:p>
        </p:txBody>
      </p:sp>
      <p:sp>
        <p:nvSpPr>
          <p:cNvPr id="16" name="Oval 15"/>
          <p:cNvSpPr/>
          <p:nvPr/>
        </p:nvSpPr>
        <p:spPr>
          <a:xfrm>
            <a:off x="4251960" y="3346704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3467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328416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CMD 3 detects sensor mismatch</a:t>
            </a:r>
          </a:p>
        </p:txBody>
      </p:sp>
      <p:sp>
        <p:nvSpPr>
          <p:cNvPr id="19" name="Oval 18"/>
          <p:cNvSpPr/>
          <p:nvPr/>
        </p:nvSpPr>
        <p:spPr>
          <a:xfrm>
            <a:off x="4251960" y="4059936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60" y="40599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041648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CMD 48 detects valve position error</a:t>
            </a:r>
          </a:p>
        </p:txBody>
      </p:sp>
      <p:sp>
        <p:nvSpPr>
          <p:cNvPr id="22" name="Oval 21"/>
          <p:cNvSpPr/>
          <p:nvPr/>
        </p:nvSpPr>
        <p:spPr>
          <a:xfrm>
            <a:off x="4251960" y="4773168"/>
            <a:ext cx="457200" cy="457200"/>
          </a:xfrm>
          <a:prstGeom prst="ellipse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773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1D1B"/>
                </a:solidFill>
                <a:latin typeface="Cambr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54880"/>
            <a:ext cx="65196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>
                <a:solidFill>
                  <a:srgbClr val="1D1D1B"/>
                </a:solidFill>
                <a:latin typeface="Calibri"/>
              </a:rPr>
              <a:t>HART helps decide if data is trustworthy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412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D1D1B"/>
                </a:solidFill>
                <a:latin typeface="Cambria"/>
              </a:rPr>
              <a:t>What we demonstrated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1874519"/>
            <a:ext cx="621792" cy="621792"/>
          </a:xfrm>
          <a:prstGeom prst="ellipse">
            <a:avLst/>
          </a:prstGeom>
          <a:solidFill>
            <a:srgbClr val="FBFBFA"/>
          </a:solidFill>
          <a:ln w="15875">
            <a:solidFill>
              <a:srgbClr val="1E9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029967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4480" y="1856231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9E6A"/>
                </a:solidFill>
                <a:latin typeface="Cambria"/>
              </a:rPr>
              <a:t>The concept holds up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58568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3F3F3D"/>
                </a:solidFill>
                <a:latin typeface="Calibri"/>
              </a:rPr>
              <a:t>Everything explained about HART's frame and status bytes showed up exactly as described once we ran a real loop.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3044952"/>
            <a:ext cx="621792" cy="621792"/>
          </a:xfrm>
          <a:prstGeom prst="ellipse">
            <a:avLst/>
          </a:prstGeom>
          <a:solidFill>
            <a:srgbClr val="FBFBFA"/>
          </a:solidFill>
          <a:ln w="15875">
            <a:solidFill>
              <a:srgbClr val="C9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lo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200400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026664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C98A00"/>
                </a:solidFill>
                <a:latin typeface="Cambria"/>
              </a:rPr>
              <a:t>Three different faults, three different signatures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3F3F3D"/>
                </a:solidFill>
                <a:latin typeface="Calibri"/>
              </a:rPr>
              <a:t>A wrong reading, a silent device, and a stuck valve each left a distinct, detectable trace.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4215384"/>
            <a:ext cx="621792" cy="621792"/>
          </a:xfrm>
          <a:prstGeom prst="ellipse">
            <a:avLst/>
          </a:prstGeom>
          <a:solidFill>
            <a:srgbClr val="FBFBFA"/>
          </a:solidFill>
          <a:ln w="15875">
            <a:solidFill>
              <a:srgbClr val="E20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earch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370832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4197096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2061A"/>
                </a:solidFill>
                <a:latin typeface="Cambria"/>
              </a:rPr>
              <a:t>Detection happened without raising the alarm ourselves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599432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3F3F3D"/>
                </a:solidFill>
                <a:latin typeface="Calibri"/>
              </a:rPr>
              <a:t>HART's own status bytes did the work — we only had to read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868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D1D1B"/>
                </a:solidFill>
                <a:latin typeface="Cambria"/>
              </a:rPr>
              <a:t>HART vs. other fieldbus protocols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69037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 marL="109728" marT="18288" marB="18288" anchor="ctr"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HART</a:t>
                      </a:r>
                    </a:p>
                  </a:txBody>
                  <a:tcPr marL="109728" marT="18288" marB="18288" anchor="ctr">
                    <a:solidFill>
                      <a:srgbClr val="E206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Found. Fieldbus</a:t>
                      </a:r>
                    </a:p>
                  </a:txBody>
                  <a:tcPr marL="109728" marT="18288" marB="18288" anchor="ctr">
                    <a:solidFill>
                      <a:srgbClr val="1D1D1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PROFIBUS PA</a:t>
                      </a:r>
                    </a:p>
                  </a:txBody>
                  <a:tcPr marL="109728" marT="18288" marB="18288" anchor="ctr">
                    <a:solidFill>
                      <a:srgbClr val="1D1D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Reuses 4–20 mA wiring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206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Keeps the analog signal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206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Device diagnostics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2061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Easy to retrofit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206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9728" marT="18288" marB="18288" anchor="ctr"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Installed base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E2061A"/>
                          </a:solidFill>
                          <a:latin typeface="Calibri"/>
                        </a:rPr>
                        <a:t>Very large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Smaller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3F3F3D"/>
                          </a:solidFill>
                          <a:latin typeface="Calibri"/>
                        </a:rPr>
                        <a:t>Smaller</a:t>
                      </a:r>
                    </a:p>
                  </a:txBody>
                  <a:tcPr marL="109728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783080"/>
            <a:ext cx="3566160" cy="36118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 w="9525">
            <a:solidFill>
              <a:srgbClr val="D3D3D0"/>
            </a:solidFill>
          </a:ln>
          <a:effectLst>
            <a:outerShdw blurRad="88900" dist="38100" dir="54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troph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5740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26974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ECC00"/>
                </a:solidFill>
                <a:latin typeface="Cambria"/>
              </a:rPr>
              <a:t>Why HART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200400"/>
            <a:ext cx="3063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0" i="0">
                <a:solidFill>
                  <a:srgbClr val="CFCFCC"/>
                </a:solidFill>
                <a:latin typeface="Calibri"/>
              </a:rPr>
              <a:t>It adds digital diagnostics without throwing away the analog wiring already in place.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300" b="0" i="0">
                <a:solidFill>
                  <a:srgbClr val="CFCFCC"/>
                </a:solidFill>
                <a:latin typeface="Calibri"/>
              </a:rPr>
              <a:t>That makes it the easiest protocol to adopt in an existing plant — the reason it is so widely used.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8A8A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D1D1B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E2061A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F3F3D"/>
                </a:solidFill>
                <a:latin typeface="Calibri"/>
              </a:rPr>
              <a:t>HART-Based Fault Detection in a Reactor Temperature Control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56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A8A87"/>
                </a:solidFill>
                <a:latin typeface="Calibri"/>
              </a:rPr>
              <a:t>Soaib Ferdous  ·  Md Arman Zaid Efty  ·  Md Zulkar Nain Sayeed  ·  Jamsadul Bari Fahad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98A00"/>
                </a:solidFill>
                <a:latin typeface="Calibri"/>
              </a:rPr>
              <a:t>Hochschule Hamm-Lippstadt  ·  Industrial Communication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95560" y="5989320"/>
            <a:ext cx="365760" cy="365760"/>
          </a:xfrm>
          <a:prstGeom prst="rect">
            <a:avLst/>
          </a:prstGeom>
          <a:solidFill>
            <a:srgbClr val="E20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469880" y="6263640"/>
            <a:ext cx="365760" cy="365760"/>
          </a:xfrm>
          <a:prstGeom prst="rect">
            <a:avLst/>
          </a:prstGeom>
          <a:solidFill>
            <a:srgbClr val="FE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ki-ProjektMeeting.potx" id="{E3380594-1F68-41BF-B00D-D278C55573EE}" vid="{1F2C3E56-6124-438B-95EF-9390E48F948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0</TotalTime>
  <Words>914</Words>
  <Application>Microsoft Office PowerPoint</Application>
  <PresentationFormat>Widescreen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Source Sans Pro</vt:lpstr>
      <vt:lpstr>Office-Design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Scalora, Giuseppe</dc:creator>
  <cp:lastModifiedBy>zfw</cp:lastModifiedBy>
  <cp:revision>4</cp:revision>
  <dcterms:created xsi:type="dcterms:W3CDTF">2025-03-17T09:02:15Z</dcterms:created>
  <dcterms:modified xsi:type="dcterms:W3CDTF">2026-06-16T21:46:06Z</dcterms:modified>
</cp:coreProperties>
</file>